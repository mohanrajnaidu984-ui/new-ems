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2" r:id="rId2"/>
    <p:sldId id="284" r:id="rId3"/>
    <p:sldId id="285" r:id="rId4"/>
    <p:sldId id="277" r:id="rId5"/>
    <p:sldId id="276" r:id="rId6"/>
    <p:sldId id="278" r:id="rId7"/>
    <p:sldId id="279" r:id="rId8"/>
    <p:sldId id="280" r:id="rId9"/>
    <p:sldId id="281" r:id="rId10"/>
    <p:sldId id="282" r:id="rId11"/>
    <p:sldId id="283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2A4"/>
    <a:srgbClr val="00549F"/>
    <a:srgbClr val="339AAB"/>
    <a:srgbClr val="F17470"/>
    <a:srgbClr val="EE716E"/>
    <a:srgbClr val="3DA8B4"/>
    <a:srgbClr val="0C668A"/>
    <a:srgbClr val="F0EEF0"/>
    <a:srgbClr val="08CFD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3" autoAdjust="0"/>
    <p:restoredTop sz="95332" autoAdjust="0"/>
  </p:normalViewPr>
  <p:slideViewPr>
    <p:cSldViewPr snapToGrid="0">
      <p:cViewPr varScale="1">
        <p:scale>
          <a:sx n="88" d="100"/>
          <a:sy n="88" d="100"/>
        </p:scale>
        <p:origin x="5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08282-F02B-4BF3-84E9-CED791A891D3}" type="datetimeFigureOut">
              <a:rPr lang="en-US" smtClean="0"/>
              <a:t>14-May-23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F51A9-C8DF-445B-918C-1C1F56474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49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17BB0-CBD2-45BD-9187-37FEBDD14B29}" type="datetimeFigureOut">
              <a:rPr lang="en-US" smtClean="0"/>
              <a:t>14-May-23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31763-1FAE-472C-BEB6-573D82233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184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BA98-2B34-4608-B4FD-455300F48090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4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A76DF-174C-413A-A988-4D8E90951822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8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95E7-515B-42BF-8D31-3FA7D2B4732C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7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1E9DD-2D35-47B6-948C-58107C83D1D8}" type="datetime1">
              <a:rPr lang="en-US" smtClean="0"/>
              <a:t>14-May-23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9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5D4C-80D1-4744-8CC6-EF9CC27A989E}" type="datetime1">
              <a:rPr lang="en-US" smtClean="0"/>
              <a:t>14-May-23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3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66B0-03F2-4D0A-A9D4-ADA4D80F80C4}" type="datetime1">
              <a:rPr lang="en-US" smtClean="0"/>
              <a:t>14-May-23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38390-FA3F-499F-A578-B669CA652015}" type="datetime1">
              <a:rPr lang="en-US" smtClean="0"/>
              <a:t>14-May-23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65A9-097C-47CB-8614-E451FC4A1DEE}" type="datetime1">
              <a:rPr lang="en-US" smtClean="0"/>
              <a:t>14-May-23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1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CE9B-E3AD-4720-B3C9-32E61F8937F9}" type="datetime1">
              <a:rPr lang="en-US" smtClean="0"/>
              <a:t>14-May-23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2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36296-6D78-474E-9CE4-31BBDDCE7C04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3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3A50-3F68-4509-8602-E1E0994DEB20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CE9AA-04E1-4D7A-893E-ADCBD511ACE5}" type="datetime1">
              <a:rPr lang="en-US" smtClean="0"/>
              <a:t>14-May-23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FE43D-9B9D-4B42-A78A-A0C598F4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3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12" Type="http://schemas.openxmlformats.org/officeDocument/2006/relationships/image" Target="../media/image14.png"/><Relationship Id="rId2" Type="http://schemas.openxmlformats.org/officeDocument/2006/relationships/image" Target="../media/image17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05835" y="5248487"/>
            <a:ext cx="2561389" cy="477407"/>
          </a:xfrm>
          <a:prstGeom prst="rect">
            <a:avLst/>
          </a:prstGeom>
        </p:spPr>
      </p:pic>
      <p:pic>
        <p:nvPicPr>
          <p:cNvPr id="2050" name="Picture 2" descr="Saudi arabia map with flag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AFBFD"/>
              </a:clrFrom>
              <a:clrTo>
                <a:srgbClr val="FAFB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1" b="15877"/>
          <a:stretch/>
        </p:blipFill>
        <p:spPr bwMode="auto">
          <a:xfrm>
            <a:off x="7576053" y="1734532"/>
            <a:ext cx="3731330" cy="304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800160" y="2488729"/>
            <a:ext cx="863845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AAC BMS IN </a:t>
            </a:r>
            <a:r>
              <a:rPr lang="en-US" sz="880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KSA</a:t>
            </a:r>
            <a:endParaRPr lang="en-US" sz="8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2" name="Picture 4" descr="Al Salem Johnson Control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146250"/>
            <a:ext cx="2564547" cy="50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323104" y="5179270"/>
            <a:ext cx="0" cy="475504"/>
          </a:xfrm>
          <a:prstGeom prst="line">
            <a:avLst/>
          </a:prstGeom>
          <a:ln w="12700">
            <a:solidFill>
              <a:srgbClr val="135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6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2489" y="294107"/>
            <a:ext cx="1447576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About Al Salem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48937" y="1166949"/>
            <a:ext cx="1063316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Johnson Controls operates though Al Salem in KSA, Egypt, Lebanon and Yemen.</a:t>
            </a:r>
          </a:p>
          <a:p>
            <a:pPr algn="just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</a:endParaRPr>
          </a:p>
          <a:p>
            <a:pPr algn="just"/>
            <a:endParaRPr 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</a:endParaRPr>
          </a:p>
          <a:p>
            <a:pPr algn="just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Established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in 1991, Al Salem Group of Companies in Saudi Arabia joined arms with YORK’s mother company "Johnson Controls", a leading multi-industrial company and a pioneer provider of integrated solutions that incorporate HVAC equipment, fire and security systems,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building management systems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and controls, for the residential, commercial and industrial sectors, in the Kingdom of Saudi Arabia, Lebanon, Egypt &amp; Yemen </a:t>
            </a:r>
            <a:endParaRPr 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</a:endParaRPr>
          </a:p>
          <a:p>
            <a:pPr algn="just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</a:endParaRPr>
          </a:p>
          <a:p>
            <a:pPr algn="just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With a workforce exceeding 2000 employees, Al Salem YORK is strategically located across the Kingdom of Saudi Arabia to serve its’ diverse customers and industries, though our head office, branches and a well-established solid network of dealers and distributors. 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35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2489" y="294107"/>
            <a:ext cx="1675459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Management Team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5" y="891675"/>
            <a:ext cx="4267200" cy="3629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297" y="891674"/>
            <a:ext cx="4114800" cy="36290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05598" y="4520699"/>
            <a:ext cx="47026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Jagadish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 has 27 years of experience in the Buildings Industry, with deep knowledge in Building Controls, Automation, HVAC, Life Safety and Security Products &amp; Solutions. He worked with Leading Multi-Industry Global Organizations like Johnson Controls Inc. and Ingersoll Rand in the past 20 years and in a Senior Leadership role (VP/Director) past 9 years. He joined Al Salem Johnson Controls in 2014. As Director he oversees the Controls &amp; Security Systems and Products Business for KSA.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Jagadish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 holds a Bachelor in Engineering, Instrumentation and Controls.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1485" y="4520699"/>
            <a:ext cx="4702629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Dr.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Mohanad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Alshaikh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 joined the company as the Director of Operations in 2010 and assumed the role of CEO in 2014, overseeing operations in Saudi Arabia, Lebanon, Egypt &amp; Yemen. He holds a Bachelor’s Degree in International Finance, a Bachelor’s and a Master’s Degrees in Information Systems, and a Doctorate level degree in Engineering in Information Technology. He completed executive education programs in Science &amp; Technology, Innovation and International Business. Prior to joining Al Salem Johnson Controls, Dr.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Mohanad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rPr>
              <a:t> served at the Royal Embassy of Saudi Arabia in Washington DC where he liaised with US Congress. He also worked for the World Bank Group and currently serves as a board member in various companies and NGOs.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02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883756"/>
              </p:ext>
            </p:extLst>
          </p:nvPr>
        </p:nvGraphicFramePr>
        <p:xfrm>
          <a:off x="1345611" y="940518"/>
          <a:ext cx="9914572" cy="84473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26" name="Picture 2" descr="Facility Explorer | Johnson Control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426265"/>
              </p:ext>
            </p:extLst>
          </p:nvPr>
        </p:nvGraphicFramePr>
        <p:xfrm>
          <a:off x="1345611" y="940518"/>
          <a:ext cx="9914572" cy="138466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27" name="Picture 2" descr="Facility Explorer | Johnson Control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26649"/>
              </p:ext>
            </p:extLst>
          </p:nvPr>
        </p:nvGraphicFramePr>
        <p:xfrm>
          <a:off x="1345611" y="940518"/>
          <a:ext cx="9914572" cy="184621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24" name="Picture 2" descr="Facility Explorer | Johnson Control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2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633020"/>
              </p:ext>
            </p:extLst>
          </p:nvPr>
        </p:nvGraphicFramePr>
        <p:xfrm>
          <a:off x="1345611" y="940518"/>
          <a:ext cx="9914572" cy="212053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Availability for AAC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6805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24" name="Picture 2" descr="Facility Explorer | Johnson Control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3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92871"/>
              </p:ext>
            </p:extLst>
          </p:nvPr>
        </p:nvGraphicFramePr>
        <p:xfrm>
          <a:off x="1345611" y="940518"/>
          <a:ext cx="9914572" cy="262998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Availability for AAC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68058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COO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88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230" y="3206454"/>
            <a:ext cx="436130" cy="2296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4979" y="3206454"/>
            <a:ext cx="436130" cy="2296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0579" y="3181835"/>
            <a:ext cx="429356" cy="286237"/>
          </a:xfrm>
          <a:prstGeom prst="rect">
            <a:avLst/>
          </a:prstGeom>
        </p:spPr>
      </p:pic>
      <p:pic>
        <p:nvPicPr>
          <p:cNvPr id="24" name="Picture 2" descr="Facility Explorer | Johnson Control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1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483742"/>
              </p:ext>
            </p:extLst>
          </p:nvPr>
        </p:nvGraphicFramePr>
        <p:xfrm>
          <a:off x="1345611" y="940518"/>
          <a:ext cx="9914572" cy="34485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Availability for AAC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68058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COO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8806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</a:t>
                      </a:r>
                    </a:p>
                    <a:p>
                      <a:pPr algn="ctr"/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Metasys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ADS/ADX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0525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7031035" y="4095801"/>
            <a:ext cx="867560" cy="19159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9645257" y="4110451"/>
            <a:ext cx="867560" cy="1915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7230" y="3206454"/>
            <a:ext cx="436130" cy="2296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4979" y="3206454"/>
            <a:ext cx="436130" cy="2296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0579" y="3181835"/>
            <a:ext cx="429356" cy="286237"/>
          </a:xfrm>
          <a:prstGeom prst="rect">
            <a:avLst/>
          </a:prstGeom>
        </p:spPr>
      </p:pic>
      <p:pic>
        <p:nvPicPr>
          <p:cNvPr id="24" name="Picture 2" descr="Facility Explorer | Johnson Controls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6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27105"/>
              </p:ext>
            </p:extLst>
          </p:nvPr>
        </p:nvGraphicFramePr>
        <p:xfrm>
          <a:off x="1345611" y="940518"/>
          <a:ext cx="9914572" cy="42149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Availability for AAC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68058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COO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8806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</a:t>
                      </a:r>
                    </a:p>
                    <a:p>
                      <a:pPr algn="ctr"/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Metasys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ADS/ADX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05258"/>
                  </a:ext>
                </a:extLst>
              </a:tr>
              <a:tr h="7663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Supervisory controllers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SNE &amp; SNC series</a:t>
                      </a:r>
                    </a:p>
                    <a:p>
                      <a:pPr algn="ctr"/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algn="ctr"/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12328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7031035" y="4095801"/>
            <a:ext cx="867560" cy="19159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9645257" y="4110451"/>
            <a:ext cx="867560" cy="1915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7040561" y="4909918"/>
            <a:ext cx="867560" cy="1915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/>
          <a:srcRect t="29784" b="28088"/>
          <a:stretch/>
        </p:blipFill>
        <p:spPr>
          <a:xfrm>
            <a:off x="9631060" y="4904970"/>
            <a:ext cx="867560" cy="1915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7230" y="3206454"/>
            <a:ext cx="436130" cy="2296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4979" y="3206454"/>
            <a:ext cx="436130" cy="2296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0579" y="3181835"/>
            <a:ext cx="429356" cy="286237"/>
          </a:xfrm>
          <a:prstGeom prst="rect">
            <a:avLst/>
          </a:prstGeom>
        </p:spPr>
      </p:pic>
      <p:pic>
        <p:nvPicPr>
          <p:cNvPr id="24" name="Picture 2" descr="Facility Explorer | Johnson Controls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5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596960"/>
              </p:ext>
            </p:extLst>
          </p:nvPr>
        </p:nvGraphicFramePr>
        <p:xfrm>
          <a:off x="1345611" y="940518"/>
          <a:ext cx="9914572" cy="56344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29109">
                  <a:extLst>
                    <a:ext uri="{9D8B030D-6E8A-4147-A177-3AD203B41FA5}">
                      <a16:colId xmlns:a16="http://schemas.microsoft.com/office/drawing/2014/main" val="3523719744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1571779128"/>
                    </a:ext>
                  </a:extLst>
                </a:gridCol>
                <a:gridCol w="2778034">
                  <a:extLst>
                    <a:ext uri="{9D8B030D-6E8A-4147-A177-3AD203B41FA5}">
                      <a16:colId xmlns:a16="http://schemas.microsoft.com/office/drawing/2014/main" val="4068552009"/>
                    </a:ext>
                  </a:extLst>
                </a:gridCol>
                <a:gridCol w="2342606">
                  <a:extLst>
                    <a:ext uri="{9D8B030D-6E8A-4147-A177-3AD203B41FA5}">
                      <a16:colId xmlns:a16="http://schemas.microsoft.com/office/drawing/2014/main" val="4027263887"/>
                    </a:ext>
                  </a:extLst>
                </a:gridCol>
              </a:tblGrid>
              <a:tr h="84473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42296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Bahrain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2784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KSA Distributor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Only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 for JCI branch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 partners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partner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559845"/>
                  </a:ext>
                </a:extLst>
              </a:tr>
              <a:tr h="26125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Availability for AAC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available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Available</a:t>
                      </a:r>
                      <a:endParaRPr lang="en-US" sz="11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68058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COO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Mexico-North</a:t>
                      </a:r>
                      <a:r>
                        <a:rPr lang="en-US" sz="11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America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China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8806"/>
                  </a:ext>
                </a:extLst>
              </a:tr>
              <a:tr h="818606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Software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</a:t>
                      </a:r>
                    </a:p>
                    <a:p>
                      <a:pPr algn="ctr"/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Metasys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ADS/ADX</a:t>
                      </a:r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Niagara </a:t>
                      </a: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05258"/>
                  </a:ext>
                </a:extLst>
              </a:tr>
              <a:tr h="766354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Supervisory controllers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OWN</a:t>
                      </a:r>
                    </a:p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SNE &amp; SNC series</a:t>
                      </a:r>
                    </a:p>
                    <a:p>
                      <a:pPr algn="ctr"/>
                      <a:endParaRPr lang="en-US" sz="11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algn="ctr"/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/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r>
                        <a:rPr lang="en-US" sz="1100" baseline="300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rd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Party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Tridium</a:t>
                      </a:r>
                      <a:r>
                        <a:rPr lang="en-US" sz="11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123288"/>
                  </a:ext>
                </a:extLst>
              </a:tr>
              <a:tr h="1419498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DDC Controller</a:t>
                      </a:r>
                      <a:endParaRPr lang="en-US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151505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48" y="5185532"/>
            <a:ext cx="1838326" cy="1389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2489" y="294107"/>
            <a:ext cx="1898277" cy="307777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 smtClean="0"/>
              <a:t>JCI PRODUCTS IN KSA</a:t>
            </a:r>
            <a:endParaRPr lang="en-US" dirty="0"/>
          </a:p>
        </p:txBody>
      </p:sp>
      <p:pic>
        <p:nvPicPr>
          <p:cNvPr id="1030" name="Picture 6" descr="EasyIO by Johnson Controls - IBC Intelligent Building Controls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37" b="34811"/>
          <a:stretch/>
        </p:blipFill>
        <p:spPr bwMode="auto">
          <a:xfrm>
            <a:off x="9501051" y="1160700"/>
            <a:ext cx="1155973" cy="3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" t="36906" r="1210" b="38020"/>
          <a:stretch/>
        </p:blipFill>
        <p:spPr>
          <a:xfrm>
            <a:off x="3743042" y="1874043"/>
            <a:ext cx="2140107" cy="398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293" y="1802122"/>
            <a:ext cx="1301484" cy="4708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769" y="1874043"/>
            <a:ext cx="889621" cy="3758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1356" y="5229820"/>
            <a:ext cx="1783172" cy="12071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2515" y="5319385"/>
            <a:ext cx="1786936" cy="11487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216" y="1949157"/>
            <a:ext cx="374988" cy="224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2216" y="2440362"/>
            <a:ext cx="374989" cy="250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1"/>
          <a:srcRect t="29784" b="28088"/>
          <a:stretch/>
        </p:blipFill>
        <p:spPr>
          <a:xfrm>
            <a:off x="7031035" y="4095801"/>
            <a:ext cx="867560" cy="19159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1"/>
          <a:srcRect t="29784" b="28088"/>
          <a:stretch/>
        </p:blipFill>
        <p:spPr>
          <a:xfrm>
            <a:off x="9645257" y="4110451"/>
            <a:ext cx="867560" cy="1915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1"/>
          <a:srcRect t="29784" b="28088"/>
          <a:stretch/>
        </p:blipFill>
        <p:spPr>
          <a:xfrm>
            <a:off x="7040561" y="4909918"/>
            <a:ext cx="867560" cy="1915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11"/>
          <a:srcRect t="29784" b="28088"/>
          <a:stretch/>
        </p:blipFill>
        <p:spPr>
          <a:xfrm>
            <a:off x="9631060" y="4904970"/>
            <a:ext cx="867560" cy="1915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7230" y="3206454"/>
            <a:ext cx="436130" cy="22969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4979" y="3206454"/>
            <a:ext cx="436130" cy="2296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0579" y="3181835"/>
            <a:ext cx="429356" cy="286237"/>
          </a:xfrm>
          <a:prstGeom prst="rect">
            <a:avLst/>
          </a:prstGeom>
        </p:spPr>
      </p:pic>
      <p:pic>
        <p:nvPicPr>
          <p:cNvPr id="26" name="Picture 2" descr="Facility Explorer | Johnson Controls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270" y="1192513"/>
            <a:ext cx="1435269" cy="63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Metasys® Building Automation Systems – BAS | Johnson Controls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670" y="1258907"/>
            <a:ext cx="1390082" cy="617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3622" y="1056487"/>
            <a:ext cx="636554" cy="28291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5627" y="1056487"/>
            <a:ext cx="636554" cy="28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9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64700" y="2332335"/>
            <a:ext cx="529420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0" cap="none" spc="0" dirty="0" smtClean="0">
                <a:ln w="0"/>
                <a:gradFill>
                  <a:gsLst>
                    <a:gs pos="0">
                      <a:srgbClr val="0C668A"/>
                    </a:gs>
                    <a:gs pos="100000">
                      <a:srgbClr val="3DA8B4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rebuchet MS" panose="020B0603020202020204" pitchFamily="34" charset="0"/>
              </a:rPr>
              <a:t>Thank You</a:t>
            </a:r>
            <a:endParaRPr lang="en-US" sz="8800" b="0" cap="none" spc="0" dirty="0">
              <a:ln w="0"/>
              <a:gradFill>
                <a:gsLst>
                  <a:gs pos="0">
                    <a:srgbClr val="0C668A"/>
                  </a:gs>
                  <a:gs pos="100000">
                    <a:srgbClr val="3DA8B4"/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rebuchet MS" panose="020B06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33" y="6521077"/>
            <a:ext cx="1709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Building Management System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551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3694</TotalTime>
  <Words>569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Mohan Naidu</dc:creator>
  <cp:lastModifiedBy>Mohan Naidu</cp:lastModifiedBy>
  <cp:revision>1247</cp:revision>
  <dcterms:created xsi:type="dcterms:W3CDTF">2022-09-08T09:30:11Z</dcterms:created>
  <dcterms:modified xsi:type="dcterms:W3CDTF">2023-05-14T08:25:59Z</dcterms:modified>
</cp:coreProperties>
</file>